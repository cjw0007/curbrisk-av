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f9f730c37d4564" /><Relationship Type="http://schemas.openxmlformats.org/officeDocument/2006/relationships/extended-properties" Target="/docProps/app.xml" Id="Ra9a9c483eec34087" /><Relationship Type="http://schemas.openxmlformats.org/officeDocument/2006/relationships/officeDocument" Target="/ppt/presentation.xml" Id="R2bf42d83a58146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bc3927a4245cb"/>
  </p:sldMasterIdLst>
  <p:notesMasterIdLst>
    <p:notesMasterId xmlns:r="http://schemas.openxmlformats.org/officeDocument/2006/relationships" r:id="Rb678720cf7a5445b"/>
  </p:notesMasterIdLst>
  <p:sldIdLst>
    <p:sldId xmlns:r="http://schemas.openxmlformats.org/officeDocument/2006/relationships" id="256" r:id="R75fd238aaeb54657"/>
    <p:sldId xmlns:r="http://schemas.openxmlformats.org/officeDocument/2006/relationships" id="257" r:id="R12bb01b2f21741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43b8f6996a44be" /><Relationship Type="http://schemas.openxmlformats.org/officeDocument/2006/relationships/slideMaster" Target="/ppt/slideMasters/slideMaster1.xml" Id="R5efbc3927a4245cb" /><Relationship Type="http://schemas.openxmlformats.org/officeDocument/2006/relationships/notesMaster" Target="/ppt/notesMasters/notesMaster1.xml" Id="Rb678720cf7a5445b" /><Relationship Type="http://schemas.openxmlformats.org/officeDocument/2006/relationships/presProps" Target="/ppt/presProps.xml" Id="R3e1d65b2e751469a" /><Relationship Type="http://schemas.openxmlformats.org/officeDocument/2006/relationships/tableStyles" Target="/ppt/tableStyles.xml" Id="R9f24f3ab1eb845a0" /><Relationship Type="http://schemas.openxmlformats.org/officeDocument/2006/relationships/slide" Target="/ppt/slides/slide1.xml" Id="R75fd238aaeb54657" /><Relationship Type="http://schemas.openxmlformats.org/officeDocument/2006/relationships/slide" Target="/ppt/slides/slide2.xml" Id="R12bb01b2f21741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ddd92161354e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5cd4f694044506" /><Relationship Type="http://schemas.openxmlformats.org/officeDocument/2006/relationships/notesMaster" Target="/ppt/notesMasters/notesMaster1.xml" Id="R173f4cefd8c94f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c1376616374e50" /><Relationship Type="http://schemas.openxmlformats.org/officeDocument/2006/relationships/notesMaster" Target="/ppt/notesMasters/notesMaster1.xml" Id="Rfe4d4b32b6da43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risks of AV blocking. Presenters: CJ Wu and Jonathan Wilson.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San Francisco Department of Emergency Management incident log, compiled and cleaned by Dr Missy Cummings. Jonathan Wilson analysis pipeline, frozen commit 06fdb2e928ab133f799015ae01323c991669ddcd. The team independently reviewed calculations.</a:t>
            </a:r>
          </a:p>
          <a:p xmlns:a="http://schemas.openxmlformats.org/drawingml/2006/main">
            <a:r>
              <a:t>Primary source workbook: work/AV_Bricking/verification_20261004/source/av-blocking-analysis-06fdb2e928ab133f799015ae01323c991669ddcd/data/AV-Brick-Report.xlsx, sheet DEM Incidents. SHA256 cd01c0ec475a979b03dc74078dbd4ed97fc216d3342c9621f0ddf27051b60a54.</a:t>
            </a:r>
          </a:p>
          <a:p xmlns:a="http://schemas.openxmlformats.org/drawingml/2006/main">
            <a:r>
              <a:t>Independent frequency evidence: work/AV_Bricking/verification_20261004/frequency_current/frequency_verified.json. There are 120 full in-scope primary reports, but the frequency/recovery cohort is 117 reports in 184 covered days: March and June through October 2025. MLE rate = 117/184*30 = 19.0760869565 per 30 days, exact Poisson 95% CI [15.7764436531,22.8621895439]. Rounded slide values 19.1 and 15.8 to 22.9. This is a calendar-day report rate, without trip or mileage exposure.</a:t>
            </a:r>
          </a:p>
          <a:p xmlns:a="http://schemas.openxmlformats.org/drawingml/2006/main">
            <a:r>
              <a:t>Independent recovery evidence: work/AV_Bricking/verification_20261004/recovery_current/results.json. Median recorded duration is 24 minutes. 34/117 = 29.0598% of reports lasted at least 60 minutes. These reports account for 74.3330% of 6,222 total logged event minutes. Excluding the longest report, the share is 71.5786%. Durations are logged incident times, not actual medical delay, harm, passenger exposure, person-minutes, or total traffic delay.</a:t>
            </a:r>
          </a:p>
          <a:p xmlns:a="http://schemas.openxmlformats.org/drawingml/2006/main">
            <a:r>
              <a:t>Matrix source: work/AV_Bricking/verification_20261004/source/av-blocking-analysis-06fdb2e928ab133f799015ae01323c991669ddcd/project-site/assets/tables/tbl-risk-placement.csv and src/av_blocking/risk_matrix.py. This is the pinned rubric, not a direct estimate of injury probability. Likelihood uses the 30-day chance of at least one event at the governing impact tier. Cells: H1 AV-involved collision, Likely 4 × Major 4 = Very high. H2 emergency-response obstruction, Moderate 3 × Severe 5 = Very high, based on inferred obstruction at life-threatening emergency scenes. Using only explicitly stated obstructions gives Unlikely 2 × Major 4 = Medium. H3 transit/rail, Likely 4 × Significant 3 = High. H4 pedestrian/accessibility, Moderate 3 × Significant 3 = Medium. H5 occupant-related immobilization, Moderate 3 × Significant 3 = Medium. H6 multi-AV gridlock, Likely 4 × Significant 3 = High. H7 single-AV obstruction, Almost certain 5 × Significant 3 = Very high. H7 depends on the rubric's 60-minute Significant threshold.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slide. PUDO complaint rate comparison. This is a separate data source and metric from the DEM incident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instructor workbook ME 575 Class Final Data - PUDO - Waymo.xlsx, Sheet1!A7:D10, SHA256 2459c381e620234fe62ce50f0b5ffcb55fc16e0aaefd03e0352e45fe44cbf729.</a:t>
            </a:r>
          </a:p>
          <a:p xmlns:a="http://schemas.openxmlformats.org/drawingml/2006/main">
            <a:r>
              <a:t>Quarter order: 2025 Q3, 2025 Q4, 2026 Q1, 2026 Q2. Complaints: 42,66,69,79. Trip exposure: 2,676,001;3,748,532;3,905,934;4,220,075. Rates = counts/trips*100,000: 1.5695061399453885, 1.760689251152184, 1.7665429062549445, 1.8720046444672191. Native editable bar chart stores rates rounded to six decimal places and displays two decimal places: 1.569506, 1.760689, 1.766543, 1.872005. Latest quarter is orange.</a:t>
            </a:r>
          </a:p>
          <a:p xmlns:a="http://schemas.openxmlformats.org/drawingml/2006/main">
            <a:r>
              <a:t>Prior 3 pooled exposure = 10,330,467 trips, complaints = 177, rate = 1.713378 complaints per 100,000 trips. Latest quarter rate = 1.872005. Latest/prior 3 rate ratio = 1.0925809. Exact conditional 95% CI = [0.8272003,1.4322201], exact two-sided p = 0.5353667. Rounded slide values: RR 1.09, CI 0.83 to 1.43, p 0.535. The interval and p-value do not show clear evidence of a rate difference. Failure to find a difference does not prove equal rates. Comparison assumes complaint counts and trip denominators are comparable across quarters.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a6a50e3d441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3942e00fa542a3" /><Relationship Type="http://schemas.openxmlformats.org/officeDocument/2006/relationships/slideLayout" Target="/ppt/slideLayouts/slideLayout1.xml" Id="R035f5a57226d4b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5f5a57226d4b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89872255444ee" /><Relationship Type="http://schemas.openxmlformats.org/officeDocument/2006/relationships/notesSlide" Target="/ppt/notesSlides/notesSlide1.xml" Id="R875489d078ca48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456025a22400e" /><Relationship Type="http://schemas.openxmlformats.org/officeDocument/2006/relationships/chart" Target="/ppt/slides/charts/chart1.xml" Id="R3d5000a2fa17412e" /><Relationship Type="http://schemas.openxmlformats.org/officeDocument/2006/relationships/notesSlide" Target="/ppt/notesSlides/notesSlide2.xml" Id="R16f1445a731a426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PUDO complaint rate</c:v>
          </c:tx>
          <c:spPr>
            <a:solidFill xmlns:a="http://schemas.openxmlformats.org/drawingml/2006/main">
              <a:srgbClr val="276899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D8782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2025 Q3</c:v>
                </c:pt>
                <c:pt idx="1">
                  <c:v>2025 Q4</c:v>
                </c:pt>
                <c:pt idx="2">
                  <c:v>2026 Q1</c:v>
                </c:pt>
                <c:pt idx="3">
                  <c:v>2026 Q2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1.569506</c:v>
                </c:pt>
                <c:pt idx="1">
                  <c:v>1.760689</c:v>
                </c:pt>
                <c:pt idx="2">
                  <c:v>1.766543</c:v>
                </c:pt>
                <c:pt idx="3">
                  <c:v>1.872005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364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AC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4E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ain-title">
            <a:extLst xmlns:a="http://schemas.openxmlformats.org/drawingml/2006/main">
              <a:ext uri="{FF2B5EF4-FFF2-40B4-BE49-F238E27FC236}">
                <a16:creationId xmlns:a16="http://schemas.microsoft.com/office/drawing/2014/main" id="{15413427-7BBB-41D3-834A-90D6C839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64E"/>
                </a:solidFill>
                <a:latin typeface="Arial"/>
                <a:ea typeface="Arial"/>
                <a:cs typeface="Arial"/>
              </a:rPr>
              <a:t>Public risks of AV blocking</a:t>
            </a:r>
          </a:p>
        </p:txBody>
      </p:sp>
      <p:sp>
        <p:nvSpPr>
          <p:cNvPr id="2" name="authors">
            <a:extLst xmlns:a="http://schemas.openxmlformats.org/drawingml/2006/main">
              <a:ext uri="{FF2B5EF4-FFF2-40B4-BE49-F238E27FC236}">
                <a16:creationId xmlns:a16="http://schemas.microsoft.com/office/drawing/2014/main" id="{7689A2B2-3C2E-46A8-A9D4-9E0A014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9575"/>
            <a:ext cx="2657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CJ Wu &amp; Jonathan Wilson</a:t>
            </a:r>
          </a:p>
        </p:txBody>
      </p:sp>
      <p:sp>
        <p:nvSpPr>
          <p:cNvPr id="3" name="cohort">
            <a:extLst xmlns:a="http://schemas.openxmlformats.org/drawingml/2006/main">
              <a:ext uri="{FF2B5EF4-FFF2-40B4-BE49-F238E27FC236}">
                <a16:creationId xmlns:a16="http://schemas.microsoft.com/office/drawing/2014/main" id="{AE017FA2-99E8-42DA-8E63-2B8C7691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117 DEM reports over 184 covered days in 2025</a:t>
            </a:r>
          </a:p>
        </p:txBody>
      </p:sp>
      <p:sp>
        <p:nvSpPr>
          <p:cNvPr id="4" name="matrix-title">
            <a:extLst xmlns:a="http://schemas.openxmlformats.org/drawingml/2006/main">
              <a:ext uri="{FF2B5EF4-FFF2-40B4-BE49-F238E27FC236}">
                <a16:creationId xmlns:a16="http://schemas.microsoft.com/office/drawing/2014/main" id="{045A2D77-C343-44BD-93BD-1C3ED2E9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4E"/>
                </a:solidFill>
                <a:latin typeface="Arial"/>
                <a:ea typeface="Arial"/>
                <a:cs typeface="Arial"/>
              </a:rPr>
              <a:t>Risk matrix</a:t>
            </a:r>
          </a:p>
        </p:txBody>
      </p:sp>
      <p:sp>
        <p:nvSpPr>
          <p:cNvPr id="5" name="matrix-horizon">
            <a:extLst xmlns:a="http://schemas.openxmlformats.org/drawingml/2006/main">
              <a:ext uri="{FF2B5EF4-FFF2-40B4-BE49-F238E27FC236}">
                <a16:creationId xmlns:a16="http://schemas.microsoft.com/office/drawing/2014/main" id="{2F2FD53E-C072-4D9F-82A6-EBF211F5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30-day chance of ≥1 event at the impact tier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457200" y="2133600"/>
          <a:ext xmlns:a="http://schemas.openxmlformats.org/drawingml/2006/main" cx="6972300" cy="31432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352550"/>
                <a:gridCol w="1123950"/>
                <a:gridCol w="1123950"/>
                <a:gridCol w="1123950"/>
                <a:gridCol w="1123950"/>
                <a:gridCol w="1123950"/>
              </a:tblGrid>
              <a:tr h="523875"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Likelihood</a:t>
                      </a:r>
                    </a:p>
                  </a:txBody>
                  <a:tcPr marL="38100" marR="3810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Insignificant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38100" marR="3810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Minor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38100" marR="3810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Significant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38100" marR="3810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Major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38100" marR="3810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Severe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38100" marR="38100" marT="38100" marB="38100" anchor="ctr">
                    <a:solidFill>
                      <a:srgbClr val="F1F5F8"/>
                    </a:solidFill>
                  </a:tcPr>
                </a:tc>
              </a:tr>
              <a:tr h="523875"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Almost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certain 5</a:t>
                      </a:r>
                    </a:p>
                  </a:txBody>
                  <a:tcPr marL="38100" marR="3810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38100" marR="38100" marT="38100" marB="38100" anchor="ctr">
                    <a:solidFill>
                      <a:srgbClr val="BBD3E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38100" marR="38100" marT="38100" marB="38100" anchor="ctr">
                    <a:solidFill>
                      <a:srgbClr val="F9D2A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H7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Very high</a:t>
                      </a:r>
                    </a:p>
                  </a:txBody>
                  <a:tcPr marL="38100" marR="38100" marT="38100" marB="38100" anchor="ctr">
                    <a:solidFill>
                      <a:srgbClr val="ED984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Extreme</a:t>
                      </a:r>
                    </a:p>
                  </a:txBody>
                  <a:tcPr marL="38100" marR="38100" marT="38100" marB="38100" anchor="ctr">
                    <a:solidFill>
                      <a:srgbClr val="C8661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Extreme</a:t>
                      </a:r>
                    </a:p>
                  </a:txBody>
                  <a:tcPr marL="38100" marR="38100" marT="38100" marB="38100" anchor="ctr">
                    <a:solidFill>
                      <a:srgbClr val="C86618"/>
                    </a:solidFill>
                  </a:tcPr>
                </a:tc>
              </a:tr>
              <a:tr h="523875"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Likely 4</a:t>
                      </a:r>
                    </a:p>
                  </a:txBody>
                  <a:tcPr marL="38100" marR="3810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38100" marR="38100" marT="38100" marB="38100" anchor="ctr">
                    <a:solidFill>
                      <a:srgbClr val="BBD3E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38100" marR="38100" marT="38100" marB="38100" anchor="ctr">
                    <a:solidFill>
                      <a:srgbClr val="BBD3E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H3, H6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38100" marR="38100" marT="38100" marB="38100" anchor="ctr">
                    <a:solidFill>
                      <a:srgbClr val="F9D2A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H1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Very high</a:t>
                      </a:r>
                    </a:p>
                  </a:txBody>
                  <a:tcPr marL="38100" marR="38100" marT="38100" marB="38100" anchor="ctr">
                    <a:solidFill>
                      <a:srgbClr val="ED984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Extreme</a:t>
                      </a:r>
                    </a:p>
                  </a:txBody>
                  <a:tcPr marL="38100" marR="38100" marT="38100" marB="38100" anchor="ctr">
                    <a:solidFill>
                      <a:srgbClr val="C86618"/>
                    </a:solidFill>
                  </a:tcPr>
                </a:tc>
              </a:tr>
              <a:tr h="523875"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Moderate 3</a:t>
                      </a:r>
                    </a:p>
                  </a:txBody>
                  <a:tcPr marL="38100" marR="3810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38100" marR="38100" marT="38100" marB="38100" anchor="ctr">
                    <a:solidFill>
                      <a:srgbClr val="DCE8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38100" marR="38100" marT="38100" marB="38100" anchor="ctr">
                    <a:solidFill>
                      <a:srgbClr val="BBD3E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H4, H5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38100" marR="38100" marT="38100" marB="38100" anchor="ctr">
                    <a:solidFill>
                      <a:srgbClr val="BBD3E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38100" marR="38100" marT="38100" marB="38100" anchor="ctr">
                    <a:solidFill>
                      <a:srgbClr val="F9D2A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75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H2*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Very high</a:t>
                      </a:r>
                    </a:p>
                  </a:txBody>
                  <a:tcPr marL="38100" marR="38100" marT="38100" marB="38100" anchor="ctr">
                    <a:solidFill>
                      <a:srgbClr val="ED9848"/>
                    </a:solidFill>
                  </a:tcPr>
                </a:tc>
              </a:tr>
              <a:tr h="523875"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Unlikely 2</a:t>
                      </a:r>
                    </a:p>
                  </a:txBody>
                  <a:tcPr marL="38100" marR="3810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Very low</a:t>
                      </a:r>
                    </a:p>
                  </a:txBody>
                  <a:tcPr marL="38100" marR="38100" marT="38100" marB="38100" anchor="ctr">
                    <a:solidFill>
                      <a:srgbClr val="EDF3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38100" marR="38100" marT="38100" marB="38100" anchor="ctr">
                    <a:solidFill>
                      <a:srgbClr val="DCE8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38100" marR="38100" marT="38100" marB="38100" anchor="ctr">
                    <a:solidFill>
                      <a:srgbClr val="BBD3E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38100" marR="38100" marT="38100" marB="38100" anchor="ctr">
                    <a:solidFill>
                      <a:srgbClr val="BBD3E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38100" marR="38100" marT="38100" marB="38100" anchor="ctr">
                    <a:solidFill>
                      <a:srgbClr val="F9D2A8"/>
                    </a:solidFill>
                  </a:tcPr>
                </a:tc>
              </a:tr>
              <a:tr h="523875"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Rare 1</a:t>
                      </a:r>
                    </a:p>
                  </a:txBody>
                  <a:tcPr marL="38100" marR="38100" marT="38100" marB="38100" anchor="ctr">
                    <a:solidFill>
                      <a:srgbClr val="F1F5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Very low</a:t>
                      </a:r>
                    </a:p>
                  </a:txBody>
                  <a:tcPr marL="38100" marR="38100" marT="38100" marB="38100" anchor="ctr">
                    <a:solidFill>
                      <a:srgbClr val="EDF3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Very low</a:t>
                      </a:r>
                    </a:p>
                  </a:txBody>
                  <a:tcPr marL="38100" marR="38100" marT="38100" marB="38100" anchor="ctr">
                    <a:solidFill>
                      <a:srgbClr val="EDF3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38100" marR="38100" marT="38100" marB="38100" anchor="ctr">
                    <a:solidFill>
                      <a:srgbClr val="DCE8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38100" marR="38100" marT="38100" marB="38100" anchor="ctr">
                    <a:solidFill>
                      <a:srgbClr val="BBD3E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0">
                          <a:solidFill>
                            <a:srgbClr val="17364E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38100" marR="38100" marT="38100" marB="38100" anchor="ctr">
                    <a:solidFill>
                      <a:srgbClr val="BBD3EB"/>
                    </a:solidFill>
                  </a:tcPr>
                </a:tc>
              </a:tr>
            </a:tbl>
          </a:graphicData>
        </a:graphic>
      </p:graphicFrame>
      <p:sp>
        <p:nvSpPr>
          <p:cNvPr id="7" name="hazard-key-main">
            <a:extLst xmlns:a="http://schemas.openxmlformats.org/drawingml/2006/main">
              <a:ext uri="{FF2B5EF4-FFF2-40B4-BE49-F238E27FC236}">
                <a16:creationId xmlns:a16="http://schemas.microsoft.com/office/drawing/2014/main" id="{FAFB2058-5528-4015-A8BC-CE2904E6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64E"/>
                </a:solidFill>
                <a:latin typeface="Arial"/>
                <a:ea typeface="Arial"/>
                <a:cs typeface="Arial"/>
              </a:rPr>
              <a:t>H1 Collision     H2 Emergency obstruction*     H7 Single AV blockage</a:t>
            </a:r>
          </a:p>
        </p:txBody>
      </p:sp>
      <p:sp>
        <p:nvSpPr>
          <p:cNvPr id="8" name="hazard-key-other">
            <a:extLst xmlns:a="http://schemas.openxmlformats.org/drawingml/2006/main">
              <a:ext uri="{FF2B5EF4-FFF2-40B4-BE49-F238E27FC236}">
                <a16:creationId xmlns:a16="http://schemas.microsoft.com/office/drawing/2014/main" id="{4B08CD14-0A06-4846-9397-3FD13E59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704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H3 Transit     H4 Ped/access     H5 Occupant     H6 Multi-AV</a:t>
            </a:r>
          </a:p>
        </p:txBody>
      </p:sp>
      <p:sp>
        <p:nvSpPr>
          <p:cNvPr id="9" name="report-rate">
            <a:extLst xmlns:a="http://schemas.openxmlformats.org/drawingml/2006/main">
              <a:ext uri="{FF2B5EF4-FFF2-40B4-BE49-F238E27FC236}">
                <a16:creationId xmlns:a16="http://schemas.microsoft.com/office/drawing/2014/main" id="{319FC801-3632-4B3E-9657-18EC286B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52575"/>
            <a:ext cx="1905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7689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76899"/>
                </a:solidFill>
                <a:latin typeface="Arial"/>
                <a:ea typeface="Arial"/>
                <a:cs typeface="Arial"/>
              </a:rPr>
              <a:t>19.1</a:t>
            </a:r>
          </a:p>
        </p:txBody>
      </p:sp>
      <p:sp>
        <p:nvSpPr>
          <p:cNvPr id="10" name="report-rate-unit">
            <a:extLst xmlns:a="http://schemas.openxmlformats.org/drawingml/2006/main">
              <a:ext uri="{FF2B5EF4-FFF2-40B4-BE49-F238E27FC236}">
                <a16:creationId xmlns:a16="http://schemas.microsoft.com/office/drawing/2014/main" id="{F040140E-B91F-4934-BE41-65ACA981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526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64E"/>
                </a:solidFill>
                <a:latin typeface="Arial"/>
                <a:ea typeface="Arial"/>
                <a:cs typeface="Arial"/>
              </a:rPr>
              <a:t>reports per 30 days</a:t>
            </a:r>
          </a:p>
        </p:txBody>
      </p:sp>
      <p:sp>
        <p:nvSpPr>
          <p:cNvPr id="11" name="report-rate-ci">
            <a:extLst xmlns:a="http://schemas.openxmlformats.org/drawingml/2006/main">
              <a:ext uri="{FF2B5EF4-FFF2-40B4-BE49-F238E27FC236}">
                <a16:creationId xmlns:a16="http://schemas.microsoft.com/office/drawing/2014/main" id="{AABAE892-D311-4974-9F3A-C9E364AC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146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95% CI 15.8 to 22.9</a:t>
            </a:r>
          </a:p>
        </p:txBody>
      </p:sp>
      <p:sp>
        <p:nvSpPr>
          <p:cNvPr id="12" name="median">
            <a:extLst xmlns:a="http://schemas.openxmlformats.org/drawingml/2006/main">
              <a:ext uri="{FF2B5EF4-FFF2-40B4-BE49-F238E27FC236}">
                <a16:creationId xmlns:a16="http://schemas.microsoft.com/office/drawing/2014/main" id="{4D9A1980-01DE-404B-8D9F-B0AF8EA6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48000"/>
            <a:ext cx="371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4E"/>
                </a:solidFill>
                <a:latin typeface="Arial"/>
                <a:ea typeface="Arial"/>
                <a:cs typeface="Arial"/>
              </a:rPr>
              <a:t>24 min median duration</a:t>
            </a:r>
          </a:p>
        </p:txBody>
      </p:sp>
      <p:sp>
        <p:nvSpPr>
          <p:cNvPr id="13" name="long-report">
            <a:extLst xmlns:a="http://schemas.openxmlformats.org/drawingml/2006/main">
              <a:ext uri="{FF2B5EF4-FFF2-40B4-BE49-F238E27FC236}">
                <a16:creationId xmlns:a16="http://schemas.microsoft.com/office/drawing/2014/main" id="{99F31E02-5040-4893-BE57-0B0B4781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43300"/>
            <a:ext cx="3762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878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7822"/>
                </a:solidFill>
                <a:latin typeface="Arial"/>
                <a:ea typeface="Arial"/>
                <a:cs typeface="Arial"/>
              </a:rPr>
              <a:t>29.1% lasted ≥60 min</a:t>
            </a:r>
          </a:p>
        </p:txBody>
      </p:sp>
      <p:sp>
        <p:nvSpPr>
          <p:cNvPr id="14" name="long-duration-share">
            <a:extLst xmlns:a="http://schemas.openxmlformats.org/drawingml/2006/main">
              <a:ext uri="{FF2B5EF4-FFF2-40B4-BE49-F238E27FC236}">
                <a16:creationId xmlns:a16="http://schemas.microsoft.com/office/drawing/2014/main" id="{B79F8F21-548F-4956-AF13-9CADF409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52875"/>
            <a:ext cx="3781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4E"/>
                </a:solidFill>
                <a:latin typeface="Arial"/>
                <a:ea typeface="Arial"/>
                <a:cs typeface="Arial"/>
              </a:rPr>
              <a:t>34 of 117 reports account for</a:t>
            </a:r>
          </a:p>
          <a:p xmlns:a="http://schemas.openxmlformats.org/drawingml/2006/main">
            <a:pPr algn="l">
              <a:defRPr sz="1650" b="0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4E"/>
                </a:solidFill>
                <a:latin typeface="Arial"/>
                <a:ea typeface="Arial"/>
                <a:cs typeface="Arial"/>
              </a:rPr>
              <a:t>74.3% of total logged event time</a:t>
            </a:r>
          </a:p>
        </p:txBody>
      </p:sp>
      <p:sp>
        <p:nvSpPr>
          <p:cNvPr id="15" name="h2-sensitivity">
            <a:extLst xmlns:a="http://schemas.openxmlformats.org/drawingml/2006/main">
              <a:ext uri="{FF2B5EF4-FFF2-40B4-BE49-F238E27FC236}">
                <a16:creationId xmlns:a16="http://schemas.microsoft.com/office/drawing/2014/main" id="{A7644A41-12FD-410A-80AA-B224387F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91075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78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7822"/>
                </a:solidFill>
                <a:latin typeface="Arial"/>
                <a:ea typeface="Arial"/>
                <a:cs typeface="Arial"/>
              </a:rPr>
              <a:t>H2* uses inferred obstruction</a:t>
            </a:r>
          </a:p>
          <a:p xmlns:a="http://schemas.openxmlformats.org/drawingml/2006/main">
            <a:pPr algn="l">
              <a:defRPr sz="1575" b="0">
                <a:solidFill>
                  <a:srgbClr val="D878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7822"/>
                </a:solidFill>
                <a:latin typeface="Arial"/>
                <a:ea typeface="Arial"/>
                <a:cs typeface="Arial"/>
              </a:rPr>
              <a:t>at emergency scenes.</a:t>
            </a:r>
          </a:p>
          <a:p xmlns:a="http://schemas.openxmlformats.org/drawingml/2006/main">
            <a:pPr algn="l">
              <a:defRPr sz="1575" b="0">
                <a:solidFill>
                  <a:srgbClr val="D878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7822"/>
                </a:solidFill>
                <a:latin typeface="Arial"/>
                <a:ea typeface="Arial"/>
                <a:cs typeface="Arial"/>
              </a:rPr>
              <a:t>Explicit-only: Medium (2 × 4)</a:t>
            </a:r>
          </a:p>
        </p:txBody>
      </p:sp>
      <p:sp>
        <p:nvSpPr>
          <p:cNvPr id="16" name="main-caveats">
            <a:extLst xmlns:a="http://schemas.openxmlformats.org/drawingml/2006/main">
              <a:ext uri="{FF2B5EF4-FFF2-40B4-BE49-F238E27FC236}">
                <a16:creationId xmlns:a16="http://schemas.microsoft.com/office/drawing/2014/main" id="{A23E59AF-AC30-46C5-A55B-4BF329B3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86475"/>
            <a:ext cx="11277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Logged event time does not measure medical delay or harm. Calendar-day rates lack trip or mileage exposure.</a:t>
            </a:r>
          </a:p>
        </p:txBody>
      </p:sp>
      <p:sp>
        <p:nvSpPr>
          <p:cNvPr id="17" name="main-source">
            <a:extLst xmlns:a="http://schemas.openxmlformats.org/drawingml/2006/main">
              <a:ext uri="{FF2B5EF4-FFF2-40B4-BE49-F238E27FC236}">
                <a16:creationId xmlns:a16="http://schemas.microsoft.com/office/drawing/2014/main" id="{42638036-D5E0-4FF6-9CE2-20DA4100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Source: SF DEM log, compiled/cleaned by Dr Missy Cummings. Jonathan Wilson pipeline, pinned 06fdb2e9.</a:t>
            </a:r>
          </a:p>
          <a:p xmlns:a="http://schemas.openxmlformats.org/drawingml/2006/main">
            <a:pPr algn="l">
              <a:defRPr sz="1013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Independent review: CJ Wu and team. Covered months: March and June–October 2025.</a:t>
            </a:r>
          </a:p>
        </p:txBody>
      </p:sp>
    </p:spTree>
    <p:extLst>
      <p:ext uri="{BB962C8B-B14F-4D97-AF65-F5344CB8AC3E}">
        <p14:creationId xmlns:p14="http://schemas.microsoft.com/office/powerpoint/2010/main" val="38866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ackup-title">
            <a:extLst xmlns:a="http://schemas.openxmlformats.org/drawingml/2006/main">
              <a:ext uri="{FF2B5EF4-FFF2-40B4-BE49-F238E27FC236}">
                <a16:creationId xmlns:a16="http://schemas.microsoft.com/office/drawing/2014/main" id="{23EF0913-A57B-4BD8-A89F-C18BD83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64E"/>
                </a:solidFill>
                <a:latin typeface="Arial"/>
                <a:ea typeface="Arial"/>
                <a:cs typeface="Arial"/>
              </a:rPr>
              <a:t>PUDO complaints per trip</a:t>
            </a:r>
          </a:p>
        </p:txBody>
      </p:sp>
      <p:sp>
        <p:nvSpPr>
          <p:cNvPr id="2" name="backup-label">
            <a:extLst xmlns:a="http://schemas.openxmlformats.org/drawingml/2006/main">
              <a:ext uri="{FF2B5EF4-FFF2-40B4-BE49-F238E27FC236}">
                <a16:creationId xmlns:a16="http://schemas.microsoft.com/office/drawing/2014/main" id="{4567810C-1111-4F37-A4D7-95CCCE80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878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87822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3" name="backup-subtitle">
            <a:extLst xmlns:a="http://schemas.openxmlformats.org/drawingml/2006/main">
              <a:ext uri="{FF2B5EF4-FFF2-40B4-BE49-F238E27FC236}">
                <a16:creationId xmlns:a16="http://schemas.microsoft.com/office/drawing/2014/main" id="{BCEFFF40-4D1F-4CD4-9E0E-93D8AB7E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2026 Q2 compared with the prior three quarters</a:t>
            </a:r>
          </a:p>
        </p:txBody>
      </p:sp>
      <p:sp>
        <p:nvSpPr>
          <p:cNvPr id="4" name="chart-unit">
            <a:extLst xmlns:a="http://schemas.openxmlformats.org/drawingml/2006/main">
              <a:ext uri="{FF2B5EF4-FFF2-40B4-BE49-F238E27FC236}">
                <a16:creationId xmlns:a16="http://schemas.microsoft.com/office/drawing/2014/main" id="{C1300E85-2655-4A7D-8569-047D8F4C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4E"/>
                </a:solidFill>
                <a:latin typeface="Arial"/>
                <a:ea typeface="Arial"/>
                <a:cs typeface="Arial"/>
              </a:rPr>
              <a:t>Complaints per 100,000 trips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57200" y="1952625"/>
          <a:ext xmlns:a="http://schemas.openxmlformats.org/drawingml/2006/main" cx="70008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5000a2fa17412e"/>
          </a:graphicData>
        </a:graphic>
      </p:graphicFrame>
      <p:sp>
        <p:nvSpPr>
          <p:cNvPr id="6" name="pooled-reference">
            <a:extLst xmlns:a="http://schemas.openxmlformats.org/drawingml/2006/main">
              <a:ext uri="{FF2B5EF4-FFF2-40B4-BE49-F238E27FC236}">
                <a16:creationId xmlns:a16="http://schemas.microsoft.com/office/drawing/2014/main" id="{FB45B67F-12CC-4E45-A9A3-425E6BC2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676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Prior 3 pooled rate: 1.71 per 100,000 trips</a:t>
            </a:r>
          </a:p>
        </p:txBody>
      </p:sp>
      <p:sp>
        <p:nvSpPr>
          <p:cNvPr id="7" name="conclusion">
            <a:extLst xmlns:a="http://schemas.openxmlformats.org/drawingml/2006/main">
              <a:ext uri="{FF2B5EF4-FFF2-40B4-BE49-F238E27FC236}">
                <a16:creationId xmlns:a16="http://schemas.microsoft.com/office/drawing/2014/main" id="{B8AFD292-AF3E-4C1B-B2CF-01FE374B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752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64E"/>
                </a:solidFill>
                <a:latin typeface="Arial"/>
                <a:ea typeface="Arial"/>
                <a:cs typeface="Arial"/>
              </a:rPr>
              <a:t>No clear evidence of</a:t>
            </a:r>
          </a:p>
          <a:p xmlns:a="http://schemas.openxmlformats.org/drawingml/2006/main">
            <a:pPr algn="l">
              <a:defRPr sz="2400" b="1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64E"/>
                </a:solidFill>
                <a:latin typeface="Arial"/>
                <a:ea typeface="Arial"/>
                <a:cs typeface="Arial"/>
              </a:rPr>
              <a:t>a rate difference</a:t>
            </a:r>
          </a:p>
        </p:txBody>
      </p:sp>
      <p:sp>
        <p:nvSpPr>
          <p:cNvPr id="8" name="comparison">
            <a:extLst xmlns:a="http://schemas.openxmlformats.org/drawingml/2006/main">
              <a:ext uri="{FF2B5EF4-FFF2-40B4-BE49-F238E27FC236}">
                <a16:creationId xmlns:a16="http://schemas.microsoft.com/office/drawing/2014/main" id="{B9FE6DA9-66CB-43BE-811A-9D11DA6B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95575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Latest quarter / prior 3 pooled</a:t>
            </a:r>
          </a:p>
        </p:txBody>
      </p:sp>
      <p:sp>
        <p:nvSpPr>
          <p:cNvPr id="9" name="rate-ratio">
            <a:extLst xmlns:a="http://schemas.openxmlformats.org/drawingml/2006/main">
              <a:ext uri="{FF2B5EF4-FFF2-40B4-BE49-F238E27FC236}">
                <a16:creationId xmlns:a16="http://schemas.microsoft.com/office/drawing/2014/main" id="{9291CCFE-6D11-4D4E-9439-79A9EC82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33725"/>
            <a:ext cx="3752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7689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76899"/>
                </a:solidFill>
                <a:latin typeface="Arial"/>
                <a:ea typeface="Arial"/>
                <a:cs typeface="Arial"/>
              </a:rPr>
              <a:t>RR 1.09</a:t>
            </a:r>
          </a:p>
        </p:txBody>
      </p:sp>
      <p:sp>
        <p:nvSpPr>
          <p:cNvPr id="10" name="rate-ratio-ci">
            <a:extLst xmlns:a="http://schemas.openxmlformats.org/drawingml/2006/main">
              <a:ext uri="{FF2B5EF4-FFF2-40B4-BE49-F238E27FC236}">
                <a16:creationId xmlns:a16="http://schemas.microsoft.com/office/drawing/2014/main" id="{BBDEC964-B614-4BF9-8734-72F1B538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00475"/>
            <a:ext cx="3752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4E"/>
                </a:solidFill>
                <a:latin typeface="Arial"/>
                <a:ea typeface="Arial"/>
                <a:cs typeface="Arial"/>
              </a:rPr>
              <a:t>95% CI 0.83 to 1.43</a:t>
            </a:r>
          </a:p>
        </p:txBody>
      </p:sp>
      <p:sp>
        <p:nvSpPr>
          <p:cNvPr id="11" name="exact-p">
            <a:extLst xmlns:a="http://schemas.openxmlformats.org/drawingml/2006/main">
              <a:ext uri="{FF2B5EF4-FFF2-40B4-BE49-F238E27FC236}">
                <a16:creationId xmlns:a16="http://schemas.microsoft.com/office/drawing/2014/main" id="{BD2BC468-7348-484E-8EC7-0D6AB456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76725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Exact two-sided p = 0.535</a:t>
            </a:r>
          </a:p>
        </p:txBody>
      </p:sp>
      <p:sp>
        <p:nvSpPr>
          <p:cNvPr id="12" name="comparison-caveat">
            <a:extLst xmlns:a="http://schemas.openxmlformats.org/drawingml/2006/main">
              <a:ext uri="{FF2B5EF4-FFF2-40B4-BE49-F238E27FC236}">
                <a16:creationId xmlns:a16="http://schemas.microsoft.com/office/drawing/2014/main" id="{1BDFD380-4AB1-4715-A32B-B71A18C5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05375"/>
            <a:ext cx="3752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4E"/>
                </a:solidFill>
                <a:latin typeface="Arial"/>
                <a:ea typeface="Arial"/>
                <a:cs typeface="Arial"/>
              </a:rPr>
              <a:t>The interval includes a lower</a:t>
            </a:r>
          </a:p>
          <a:p xmlns:a="http://schemas.openxmlformats.org/drawingml/2006/main">
            <a:pPr algn="l">
              <a:defRPr sz="1575" b="0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4E"/>
                </a:solidFill>
                <a:latin typeface="Arial"/>
                <a:ea typeface="Arial"/>
                <a:cs typeface="Arial"/>
              </a:rPr>
              <a:t>and a higher rate.</a:t>
            </a:r>
          </a:p>
          <a:p xmlns:a="http://schemas.openxmlformats.org/drawingml/2006/main">
            <a:pPr algn="l">
              <a:defRPr sz="1575" b="0">
                <a:solidFill>
                  <a:srgbClr val="17364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4E"/>
                </a:solidFill>
                <a:latin typeface="Arial"/>
                <a:ea typeface="Arial"/>
                <a:cs typeface="Arial"/>
              </a:rPr>
              <a:t>This does not prove equality.</a:t>
            </a:r>
          </a:p>
        </p:txBody>
      </p:sp>
      <p:sp>
        <p:nvSpPr>
          <p:cNvPr id="13" name="pudo-counts">
            <a:extLst xmlns:a="http://schemas.openxmlformats.org/drawingml/2006/main">
              <a:ext uri="{FF2B5EF4-FFF2-40B4-BE49-F238E27FC236}">
                <a16:creationId xmlns:a16="http://schemas.microsoft.com/office/drawing/2014/main" id="{A2D876B0-3156-40FB-9B52-AC9DBDA4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087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Complaints: 42, 66, 69, 79. Trips: 2.68M, 3.75M, 3.91M, 4.22M.</a:t>
            </a:r>
          </a:p>
        </p:txBody>
      </p:sp>
      <p:sp>
        <p:nvSpPr>
          <p:cNvPr id="14" name="pudo-source">
            <a:extLst xmlns:a="http://schemas.openxmlformats.org/drawingml/2006/main">
              <a:ext uri="{FF2B5EF4-FFF2-40B4-BE49-F238E27FC236}">
                <a16:creationId xmlns:a16="http://schemas.microsoft.com/office/drawing/2014/main" id="{2F371F6A-8F7F-4375-A287-8B3C2EB0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Source: instructor workbook ME 575 Class Final Data - PUDO - Waymo.xlsx, Sheet1!A7:D10.</a:t>
            </a:r>
          </a:p>
          <a:p xmlns:a="http://schemas.openxmlformats.org/drawingml/2006/main">
            <a:pPr algn="l">
              <a:defRPr sz="1013" b="0">
                <a:solidFill>
                  <a:srgbClr val="51677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16779"/>
                </a:solidFill>
                <a:latin typeface="Arial"/>
                <a:ea typeface="Arial"/>
                <a:cs typeface="Arial"/>
              </a:rPr>
              <a:t>Independent team calculation. PUDO means pickup/drop-off.</a:t>
            </a:r>
          </a:p>
        </p:txBody>
      </p:sp>
    </p:spTree>
    <p:extLst>
      <p:ext uri="{BB962C8B-B14F-4D97-AF65-F5344CB8AC3E}">
        <p14:creationId xmlns:p14="http://schemas.microsoft.com/office/powerpoint/2010/main" val="2066618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2026-10-05T20:34:06.2330000Z</dcterms:created>
  <dcterms:modified xsi:type="dcterms:W3CDTF">2026-10-05T20:34:06.2330000Z</dcterms:modified>
</coreProperties>
</file>